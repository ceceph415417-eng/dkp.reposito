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E6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200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000" b="1">
                <a:solidFill>
                  <a:srgbClr val="2E6F40"/>
                </a:solidFill>
                <a:latin typeface="Arial"/>
              </a:defRPr>
            </a:pPr>
            <a:r>
              <a:t>Standar Operasional Prosedur (SOP)</a:t>
            </a:r>
            <a:br/>
            <a:r>
              <a:t>Pelayanan Registrasi PSAT-PDUK</a:t>
            </a:r>
          </a:p>
          <a:p>
            <a:pPr>
              <a:spcAft>
                <a:spcPts val="3000"/>
              </a:spcAft>
              <a:defRPr sz="1800">
                <a:solidFill>
                  <a:srgbClr val="112211"/>
                </a:solidFill>
                <a:latin typeface="Arial"/>
              </a:defRPr>
            </a:pPr>
            <a:r>
              <a:t>Wujud Penjaminan Mutu dan Keamanan Pangan Segar untuk Pelaku Usaha Mikro dan Kecil di Kabupaten Lebak</a:t>
            </a:r>
          </a:p>
          <a:p>
            <a:pPr>
              <a:defRPr sz="1400" b="1">
                <a:solidFill>
                  <a:srgbClr val="B8860B"/>
                </a:solidFill>
                <a:latin typeface="Arial"/>
              </a:defRPr>
            </a:pPr>
            <a:r>
              <a:t>Otoritas Kompeten Keamanan Pangan Daerah (OKKPD)</a:t>
            </a:r>
            <a:br/>
            <a:r>
              <a:t>Dinas Ketahanan Pangan Kabupaten Lebak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5303520"/>
            <a:ext cx="2011680" cy="457200"/>
          </a:xfrm>
          <a:prstGeom prst="roundRect">
            <a:avLst/>
          </a:prstGeom>
          <a:solidFill>
            <a:srgbClr val="EEF5EC"/>
          </a:solidFill>
          <a:ln>
            <a:solidFill>
              <a:srgbClr val="2E6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12211"/>
                </a:solidFill>
                <a:latin typeface="Arial"/>
              </a:defRPr>
            </a:pPr>
            <a:r>
              <a:t>🌾 BERAS LOKAL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71800" y="5303520"/>
            <a:ext cx="2011680" cy="457200"/>
          </a:xfrm>
          <a:prstGeom prst="roundRect">
            <a:avLst/>
          </a:prstGeom>
          <a:solidFill>
            <a:srgbClr val="EEF5EC"/>
          </a:solidFill>
          <a:ln>
            <a:solidFill>
              <a:srgbClr val="2E6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12211"/>
                </a:solidFill>
                <a:latin typeface="Arial"/>
              </a:defRPr>
            </a:pPr>
            <a:r>
              <a:t>🍎 BUAH SEGAR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0" y="5303520"/>
            <a:ext cx="2011680" cy="457200"/>
          </a:xfrm>
          <a:prstGeom prst="roundRect">
            <a:avLst/>
          </a:prstGeom>
          <a:solidFill>
            <a:srgbClr val="EEF5EC"/>
          </a:solidFill>
          <a:ln>
            <a:solidFill>
              <a:srgbClr val="2E6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12211"/>
                </a:solidFill>
                <a:latin typeface="Arial"/>
              </a:defRPr>
            </a:pPr>
            <a:r>
              <a:t>🥦 SAYURAN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E6F40"/>
                </a:solidFill>
                <a:latin typeface="Arial"/>
              </a:defRPr>
            </a:pPr>
            <a:r>
              <a:t>Apa itu PSAT-PDUK?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3383280" cy="4114800"/>
          </a:xfrm>
          <a:prstGeom prst="roundRect">
            <a:avLst/>
          </a:prstGeom>
          <a:solidFill>
            <a:srgbClr val="EEF5EC"/>
          </a:solidFill>
          <a:ln>
            <a:solidFill>
              <a:srgbClr val="2E6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2E6F40"/>
                </a:solidFill>
                <a:latin typeface="Arial"/>
              </a:defRPr>
            </a:pPr>
            <a:r>
              <a:rPr dirty="0"/>
              <a:t>📌 DEFINISI</a:t>
            </a:r>
          </a:p>
          <a:p>
            <a:pPr>
              <a:defRPr sz="1400">
                <a:solidFill>
                  <a:srgbClr val="112211"/>
                </a:solidFill>
                <a:latin typeface="Arial"/>
              </a:defRPr>
            </a:pPr>
            <a:r>
              <a:rPr dirty="0" err="1"/>
              <a:t>Pangan</a:t>
            </a:r>
            <a:r>
              <a:rPr dirty="0"/>
              <a:t> Segar </a:t>
            </a:r>
            <a:r>
              <a:rPr dirty="0" err="1"/>
              <a:t>Asal</a:t>
            </a:r>
            <a:r>
              <a:rPr dirty="0"/>
              <a:t> </a:t>
            </a:r>
            <a:r>
              <a:rPr dirty="0" err="1"/>
              <a:t>Tumbuhan</a:t>
            </a:r>
            <a:r>
              <a:rPr dirty="0"/>
              <a:t> yang </a:t>
            </a:r>
            <a:r>
              <a:rPr dirty="0" err="1"/>
              <a:t>mengalami</a:t>
            </a:r>
            <a:r>
              <a:rPr dirty="0"/>
              <a:t> </a:t>
            </a:r>
            <a:r>
              <a:rPr dirty="0" err="1"/>
              <a:t>pengolahan</a:t>
            </a:r>
            <a:r>
              <a:rPr dirty="0"/>
              <a:t> minimal (</a:t>
            </a:r>
            <a:r>
              <a:rPr dirty="0" err="1"/>
              <a:t>pencucian</a:t>
            </a:r>
            <a:r>
              <a:rPr dirty="0"/>
              <a:t>, </a:t>
            </a:r>
            <a:r>
              <a:rPr dirty="0" err="1"/>
              <a:t>pengupasan</a:t>
            </a:r>
            <a:r>
              <a:rPr dirty="0"/>
              <a:t>, </a:t>
            </a:r>
            <a:r>
              <a:rPr dirty="0" err="1"/>
              <a:t>penggilingan</a:t>
            </a:r>
            <a:r>
              <a:rPr dirty="0"/>
              <a:t>, </a:t>
            </a:r>
            <a:r>
              <a:rPr dirty="0" err="1"/>
              <a:t>pengemasan</a:t>
            </a:r>
            <a:r>
              <a:rPr dirty="0"/>
              <a:t>) </a:t>
            </a:r>
            <a:r>
              <a:rPr dirty="0" err="1"/>
              <a:t>dengan</a:t>
            </a:r>
            <a:r>
              <a:rPr dirty="0"/>
              <a:t> masa </a:t>
            </a:r>
            <a:r>
              <a:rPr dirty="0" err="1"/>
              <a:t>simpan</a:t>
            </a:r>
            <a:r>
              <a:rPr dirty="0"/>
              <a:t> &gt; 7 </a:t>
            </a:r>
            <a:r>
              <a:rPr dirty="0" err="1"/>
              <a:t>hari</a:t>
            </a:r>
            <a:r>
              <a:rPr dirty="0"/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828800"/>
            <a:ext cx="3383280" cy="4114800"/>
          </a:xfrm>
          <a:prstGeom prst="roundRect">
            <a:avLst/>
          </a:prstGeom>
          <a:solidFill>
            <a:srgbClr val="EEF5EC"/>
          </a:solidFill>
          <a:ln>
            <a:solidFill>
              <a:srgbClr val="2E6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2E6F40"/>
                </a:solidFill>
                <a:latin typeface="Arial"/>
              </a:defRPr>
            </a:pPr>
            <a:r>
              <a:t>👥 SASARAN</a:t>
            </a:r>
          </a:p>
          <a:p>
            <a:pPr>
              <a:defRPr sz="1400">
                <a:solidFill>
                  <a:srgbClr val="112211"/>
                </a:solidFill>
                <a:latin typeface="Arial"/>
              </a:defRPr>
            </a:pPr>
            <a:r>
              <a:t>Ditujukan untuk Pelaku Usaha Mikro dan Kecil (UMK) seperti petani, kelompok tani (Poktan), Gapoktan, perorangan, atau badan usaha.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828800"/>
            <a:ext cx="3383280" cy="4114800"/>
          </a:xfrm>
          <a:prstGeom prst="roundRect">
            <a:avLst/>
          </a:prstGeom>
          <a:solidFill>
            <a:srgbClr val="EEF5EC"/>
          </a:solidFill>
          <a:ln>
            <a:solidFill>
              <a:srgbClr val="2E6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2E6F40"/>
                </a:solidFill>
                <a:latin typeface="Arial"/>
              </a:defRPr>
            </a:pPr>
            <a:r>
              <a:t>🎯 TUJUAN UTAMA</a:t>
            </a:r>
          </a:p>
          <a:p>
            <a:pPr>
              <a:defRPr sz="1400">
                <a:solidFill>
                  <a:srgbClr val="112211"/>
                </a:solidFill>
                <a:latin typeface="Arial"/>
              </a:defRPr>
            </a:pPr>
            <a:r>
              <a:t>• Menjamin produk pangan aman dikonsumsi masyarakat.</a:t>
            </a:r>
            <a:br/>
            <a:r>
              <a:t>• Meningkatkan nilai jual dan kepercayaan terhadap produk lokal Lebak.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E6F40"/>
                </a:solidFill>
                <a:latin typeface="Arial"/>
              </a:defRPr>
            </a:pPr>
            <a:r>
              <a:t>Dasar Hukum &amp; Ketentuan Umum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10820095" cy="1005840"/>
          </a:xfrm>
          <a:prstGeom prst="rect">
            <a:avLst/>
          </a:prstGeom>
          <a:solidFill>
            <a:srgbClr val="EE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E6F40"/>
                </a:solidFill>
                <a:latin typeface="Arial"/>
              </a:defRPr>
            </a:pPr>
            <a:r>
              <a:t>⚖️  Regulasi Utama</a:t>
            </a:r>
          </a:p>
          <a:p>
            <a:pPr>
              <a:defRPr sz="1400">
                <a:solidFill>
                  <a:srgbClr val="112211"/>
                </a:solidFill>
                <a:latin typeface="Arial"/>
              </a:defRPr>
            </a:pPr>
            <a:r>
              <a:t>Peraturan Badan Pangan Nasional RI No. 10 Tahun 2024 tentang Standar Pelayanan Kegiatan Sektor Pertanian.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834640"/>
            <a:ext cx="10820095" cy="1005840"/>
          </a:xfrm>
          <a:prstGeom prst="rect">
            <a:avLst/>
          </a:prstGeom>
          <a:solidFill>
            <a:srgbClr val="EE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E6F40"/>
                </a:solidFill>
                <a:latin typeface="Arial"/>
              </a:defRPr>
            </a:pPr>
            <a:r>
              <a:t>⏳  Masa Berlaku</a:t>
            </a:r>
          </a:p>
          <a:p>
            <a:pPr>
              <a:defRPr sz="1400">
                <a:solidFill>
                  <a:srgbClr val="112211"/>
                </a:solidFill>
                <a:latin typeface="Arial"/>
              </a:defRPr>
            </a:pPr>
            <a:r>
              <a:t>Nomor registrasi PSAT-PDUK berlaku selama 5 tahun dan dapat diperpanjang kembali.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4023360"/>
            <a:ext cx="10820095" cy="1005840"/>
          </a:xfrm>
          <a:prstGeom prst="rect">
            <a:avLst/>
          </a:prstGeom>
          <a:solidFill>
            <a:srgbClr val="EE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E6F40"/>
                </a:solidFill>
                <a:latin typeface="Arial"/>
              </a:defRPr>
            </a:pPr>
            <a:r>
              <a:t>💰  Biaya Pelayanan</a:t>
            </a:r>
          </a:p>
          <a:p>
            <a:pPr>
              <a:defRPr sz="1400">
                <a:solidFill>
                  <a:srgbClr val="112211"/>
                </a:solidFill>
                <a:latin typeface="Arial"/>
              </a:defRPr>
            </a:pPr>
            <a:r>
              <a:t>Rp. 0,- (Gratis)! Pelayanan ini sama sekali tidak dipungut biaya apa pun.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212080"/>
            <a:ext cx="10820095" cy="1005840"/>
          </a:xfrm>
          <a:prstGeom prst="rect">
            <a:avLst/>
          </a:prstGeom>
          <a:solidFill>
            <a:srgbClr val="EE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E6F40"/>
                </a:solidFill>
                <a:latin typeface="Arial"/>
              </a:defRPr>
            </a:pPr>
            <a:r>
              <a:t>🌐  Sifat Izin</a:t>
            </a:r>
          </a:p>
          <a:p>
            <a:pPr>
              <a:defRPr sz="1400">
                <a:solidFill>
                  <a:srgbClr val="112211"/>
                </a:solidFill>
                <a:latin typeface="Arial"/>
              </a:defRPr>
            </a:pPr>
            <a:r>
              <a:t>Terintegrasi secara penuh melalui sistem perizinan berusaha berbasis risiko (OSS RBA).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E6F40"/>
                </a:solidFill>
                <a:latin typeface="Arial"/>
              </a:defRPr>
            </a:pPr>
            <a:r>
              <a:t>Persyaratan Administrasi &amp; Teknis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120640" cy="4572000"/>
          </a:xfrm>
          <a:prstGeom prst="roundRect">
            <a:avLst/>
          </a:prstGeom>
          <a:solidFill>
            <a:srgbClr val="EEF5EC"/>
          </a:solidFill>
          <a:ln>
            <a:solidFill>
              <a:srgbClr val="2E6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0"/>
              </a:spcAft>
              <a:defRPr sz="2000" b="1">
                <a:solidFill>
                  <a:srgbClr val="2E6F40"/>
                </a:solidFill>
                <a:latin typeface="Arial"/>
              </a:defRPr>
            </a:pPr>
            <a:r>
              <a:t>📋 Syarat Administrasi</a:t>
            </a:r>
          </a:p>
          <a:p>
            <a:pPr>
              <a:defRPr sz="1500">
                <a:solidFill>
                  <a:srgbClr val="112211"/>
                </a:solidFill>
                <a:latin typeface="Arial"/>
              </a:defRPr>
            </a:pPr>
            <a:r>
              <a:t>✔ Memiliki Nomor Induk Berusaha (NIB) dengan KBLI UMKU yang sesuai.</a:t>
            </a:r>
            <a:br/>
            <a:br/>
            <a:r>
              <a:t>✔ Profil usaha lengkap dan valid.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85255" y="1645920"/>
            <a:ext cx="5120640" cy="4572000"/>
          </a:xfrm>
          <a:prstGeom prst="roundRect">
            <a:avLst/>
          </a:prstGeom>
          <a:solidFill>
            <a:srgbClr val="EEF5EC"/>
          </a:solidFill>
          <a:ln>
            <a:solidFill>
              <a:srgbClr val="2E6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400"/>
              </a:spcAft>
              <a:defRPr sz="2000" b="1">
                <a:solidFill>
                  <a:srgbClr val="2E6F40"/>
                </a:solidFill>
                <a:latin typeface="Arial"/>
              </a:defRPr>
            </a:pPr>
            <a:r>
              <a:t>🛠 Syarat Teknis (Via OSS)</a:t>
            </a:r>
          </a:p>
          <a:p>
            <a:pPr>
              <a:spcAft>
                <a:spcPts val="1000"/>
              </a:spcAft>
              <a:defRPr sz="1300">
                <a:solidFill>
                  <a:srgbClr val="112211"/>
                </a:solidFill>
                <a:latin typeface="Arial"/>
              </a:defRPr>
            </a:pPr>
            <a:r>
              <a:t>📝 Formulir 1:</a:t>
            </a:r>
            <a:br/>
            <a:r>
              <a:t>Surat permohonan registrasi PSAT-PDUK kepada OKKPD Kabupaten Lebak.</a:t>
            </a:r>
          </a:p>
          <a:p>
            <a:pPr>
              <a:spcAft>
                <a:spcPts val="1000"/>
              </a:spcAft>
              <a:defRPr sz="1300">
                <a:solidFill>
                  <a:srgbClr val="112211"/>
                </a:solidFill>
                <a:latin typeface="Arial"/>
              </a:defRPr>
            </a:pPr>
            <a:r>
              <a:t>ℹ Formulir 2:</a:t>
            </a:r>
            <a:br/>
            <a:r>
              <a:t>Keterangan Informasi Produk.</a:t>
            </a:r>
          </a:p>
          <a:p>
            <a:pPr>
              <a:spcAft>
                <a:spcPts val="1000"/>
              </a:spcAft>
              <a:defRPr sz="1300">
                <a:solidFill>
                  <a:srgbClr val="112211"/>
                </a:solidFill>
                <a:latin typeface="Arial"/>
              </a:defRPr>
            </a:pPr>
            <a:r>
              <a:t>🤝 Formulir 3:</a:t>
            </a:r>
            <a:br/>
            <a:r>
              <a:t>Surat Pernyataan Komitmen bermaterai (penerapan higiene sanitasi Level 3, diagram alir, jaminan mutu, serta kesesuaian desain kemasan &amp; label).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E6F40"/>
                </a:solidFill>
                <a:latin typeface="Arial"/>
              </a:defRPr>
            </a:pPr>
            <a:r>
              <a:t>Diagram Alur Pelayanan (SOP)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2468880" cy="3931920"/>
          </a:xfrm>
          <a:prstGeom prst="roundRect">
            <a:avLst/>
          </a:prstGeom>
          <a:solidFill>
            <a:srgbClr val="EEF5EC"/>
          </a:solidFill>
          <a:ln>
            <a:solidFill>
              <a:srgbClr val="2E6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E6F40"/>
                </a:solidFill>
                <a:latin typeface="Arial"/>
              </a:defRPr>
            </a:pPr>
            <a:r>
              <a:t>🔄 Langkah 1</a:t>
            </a:r>
          </a:p>
          <a:p>
            <a:pPr>
              <a:spcAft>
                <a:spcPts val="1000"/>
              </a:spcAft>
              <a:defRPr sz="1800" b="1">
                <a:solidFill>
                  <a:srgbClr val="112211"/>
                </a:solidFill>
                <a:latin typeface="Arial"/>
              </a:defRPr>
            </a:pPr>
            <a:r>
              <a:t>Pengajuan</a:t>
            </a:r>
          </a:p>
          <a:p>
            <a:pPr>
              <a:defRPr sz="1300">
                <a:solidFill>
                  <a:srgbClr val="112211"/>
                </a:solidFill>
                <a:latin typeface="Arial"/>
              </a:defRPr>
            </a:pPr>
            <a:r>
              <a:t>Pelaku usaha login ke OSS, pilih UMKU &amp; unggah dokumen teknis.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80" y="3657600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B8860B"/>
                </a:solidFill>
              </a:defRPr>
            </a:pPr>
            <a:r>
              <a:t>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011680"/>
            <a:ext cx="2468880" cy="3931920"/>
          </a:xfrm>
          <a:prstGeom prst="roundRect">
            <a:avLst/>
          </a:prstGeom>
          <a:solidFill>
            <a:srgbClr val="EEF5EC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B8860B"/>
                </a:solidFill>
                <a:latin typeface="Arial"/>
              </a:defRPr>
            </a:pPr>
            <a:r>
              <a:t>🔄 Langkah 2</a:t>
            </a:r>
          </a:p>
          <a:p>
            <a:pPr>
              <a:spcAft>
                <a:spcPts val="1000"/>
              </a:spcAft>
              <a:defRPr sz="1800" b="1">
                <a:solidFill>
                  <a:srgbClr val="112211"/>
                </a:solidFill>
                <a:latin typeface="Arial"/>
              </a:defRPr>
            </a:pPr>
            <a:r>
              <a:t>Verifikasi</a:t>
            </a:r>
          </a:p>
          <a:p>
            <a:pPr>
              <a:defRPr sz="1300">
                <a:solidFill>
                  <a:srgbClr val="112211"/>
                </a:solidFill>
                <a:latin typeface="Arial"/>
              </a:defRPr>
            </a:pPr>
            <a:r>
              <a:t>Pengawas memeriksa dokumen &amp; kesesuaian (Maks. 7 hari kerja).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3657600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B8860B"/>
                </a:solidFill>
              </a:defRPr>
            </a:pPr>
            <a:r>
              <a:t>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2011680"/>
            <a:ext cx="2468880" cy="3931920"/>
          </a:xfrm>
          <a:prstGeom prst="roundRect">
            <a:avLst/>
          </a:prstGeom>
          <a:solidFill>
            <a:srgbClr val="EEF5EC"/>
          </a:solidFill>
          <a:ln>
            <a:solidFill>
              <a:srgbClr val="2E6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E6F40"/>
                </a:solidFill>
                <a:latin typeface="Arial"/>
              </a:defRPr>
            </a:pPr>
            <a:r>
              <a:t>🔄 Langkah 3</a:t>
            </a:r>
          </a:p>
          <a:p>
            <a:pPr>
              <a:spcAft>
                <a:spcPts val="1000"/>
              </a:spcAft>
              <a:defRPr sz="1800" b="1">
                <a:solidFill>
                  <a:srgbClr val="112211"/>
                </a:solidFill>
                <a:latin typeface="Arial"/>
              </a:defRPr>
            </a:pPr>
            <a:r>
              <a:t>Rekomendasi</a:t>
            </a:r>
          </a:p>
          <a:p>
            <a:pPr>
              <a:defRPr sz="1300">
                <a:solidFill>
                  <a:srgbClr val="112211"/>
                </a:solidFill>
                <a:latin typeface="Arial"/>
              </a:defRPr>
            </a:pPr>
            <a:r>
              <a:t>OKKPD menerbitkan berkas rekomendasi teknis ke sistem OSS.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3657600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B8860B"/>
                </a:solidFill>
              </a:defRPr>
            </a:pPr>
            <a:r>
              <a:t>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2011680"/>
            <a:ext cx="2468880" cy="3931920"/>
          </a:xfrm>
          <a:prstGeom prst="roundRect">
            <a:avLst/>
          </a:prstGeom>
          <a:solidFill>
            <a:srgbClr val="EEF5EC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B8860B"/>
                </a:solidFill>
                <a:latin typeface="Arial"/>
              </a:defRPr>
            </a:pPr>
            <a:r>
              <a:t>🔄 Langkah 4</a:t>
            </a:r>
          </a:p>
          <a:p>
            <a:pPr>
              <a:spcAft>
                <a:spcPts val="1000"/>
              </a:spcAft>
              <a:defRPr sz="1800" b="1">
                <a:solidFill>
                  <a:srgbClr val="112211"/>
                </a:solidFill>
                <a:latin typeface="Arial"/>
              </a:defRPr>
            </a:pPr>
            <a:r>
              <a:t>Sertifikat</a:t>
            </a:r>
          </a:p>
          <a:p>
            <a:pPr>
              <a:defRPr sz="1300">
                <a:solidFill>
                  <a:srgbClr val="112211"/>
                </a:solidFill>
                <a:latin typeface="Arial"/>
              </a:defRPr>
            </a:pPr>
            <a:r>
              <a:t>DPMPTSP memverifikasi akhir &amp; menerbitkan izin PSAT-PDUK.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E6F40"/>
                </a:solidFill>
                <a:latin typeface="Arial"/>
              </a:defRPr>
            </a:pPr>
            <a:r>
              <a:t>Tahapan Pasca Perizinan &amp; Labelisasi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303520" cy="2011680"/>
          </a:xfrm>
          <a:prstGeom prst="roundRect">
            <a:avLst/>
          </a:prstGeom>
          <a:solidFill>
            <a:srgbClr val="EEF5EC"/>
          </a:solidFill>
          <a:ln>
            <a:solidFill>
              <a:srgbClr val="2E6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2E6F40"/>
                </a:solidFill>
                <a:latin typeface="Arial"/>
              </a:defRPr>
            </a:pPr>
            <a:r>
              <a:t>⚪ Penerbitan Awal (Label Putih)</a:t>
            </a:r>
          </a:p>
          <a:p>
            <a:pPr>
              <a:defRPr sz="1400">
                <a:solidFill>
                  <a:srgbClr val="112211"/>
                </a:solidFill>
                <a:latin typeface="Arial"/>
              </a:defRPr>
            </a:pPr>
            <a:r>
              <a:t>Diberikan saat izin awal terbit sebagai penanda masa pembinaan awal.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45920"/>
            <a:ext cx="5303520" cy="2011680"/>
          </a:xfrm>
          <a:prstGeom prst="roundRect">
            <a:avLst/>
          </a:prstGeom>
          <a:solidFill>
            <a:srgbClr val="EEF5EC"/>
          </a:solidFill>
          <a:ln>
            <a:solidFill>
              <a:srgbClr val="2E6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2E6F40"/>
                </a:solidFill>
                <a:latin typeface="Arial"/>
              </a:defRPr>
            </a:pPr>
            <a:r>
              <a:t>🚜 Pembinaan Lapangan</a:t>
            </a:r>
          </a:p>
          <a:p>
            <a:pPr>
              <a:defRPr sz="1400">
                <a:solidFill>
                  <a:srgbClr val="112211"/>
                </a:solidFill>
                <a:latin typeface="Arial"/>
              </a:defRPr>
            </a:pPr>
            <a:r>
              <a:t>Kunjungan sarana &amp; pendampingan perbaikan maksimal 3 bulan setelah izin terbit.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023360"/>
            <a:ext cx="5303520" cy="2011680"/>
          </a:xfrm>
          <a:prstGeom prst="roundRect">
            <a:avLst/>
          </a:prstGeom>
          <a:solidFill>
            <a:srgbClr val="EEF5EC"/>
          </a:solidFill>
          <a:ln>
            <a:solidFill>
              <a:srgbClr val="2E6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2E6F40"/>
                </a:solidFill>
                <a:latin typeface="Arial"/>
              </a:defRPr>
            </a:pPr>
            <a:r>
              <a:t>🔬 Uji Mutu &amp; Keamanan</a:t>
            </a:r>
          </a:p>
          <a:p>
            <a:pPr>
              <a:defRPr sz="1400">
                <a:solidFill>
                  <a:srgbClr val="112211"/>
                </a:solidFill>
                <a:latin typeface="Arial"/>
              </a:defRPr>
            </a:pPr>
            <a:r>
              <a:t>Pengujian parameter keamanan pangan secara gratis di laboratorium terakreditasi.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4023360"/>
            <a:ext cx="5303520" cy="2011680"/>
          </a:xfrm>
          <a:prstGeom prst="roundRect">
            <a:avLst/>
          </a:prstGeom>
          <a:solidFill>
            <a:srgbClr val="EEF5EC"/>
          </a:solidFill>
          <a:ln>
            <a:solidFill>
              <a:srgbClr val="2E6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2E6F40"/>
                </a:solidFill>
                <a:latin typeface="Arial"/>
              </a:defRPr>
            </a:pPr>
            <a:r>
              <a:t>🟢 Penerbitan Label Hijau</a:t>
            </a:r>
          </a:p>
          <a:p>
            <a:pPr>
              <a:defRPr sz="1400">
                <a:solidFill>
                  <a:srgbClr val="112211"/>
                </a:solidFill>
                <a:latin typeface="Arial"/>
              </a:defRPr>
            </a:pPr>
            <a:r>
              <a:t>Diberikan kepada pelaku usaha yang telah memenuhi komitmen 100% (Maks. 1 tahun).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E6F40"/>
                </a:solidFill>
                <a:latin typeface="Arial"/>
              </a:defRPr>
            </a:pPr>
            <a:r>
              <a:t>Kewajiban Pelaku Usaha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3383280" cy="4114800"/>
          </a:xfrm>
          <a:prstGeom prst="roundRect">
            <a:avLst/>
          </a:prstGeom>
          <a:solidFill>
            <a:srgbClr val="EEF5EC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2E6F40"/>
                </a:solidFill>
                <a:latin typeface="Arial"/>
              </a:defRPr>
            </a:pPr>
            <a:r>
              <a:t>💎 Konsistensi Mutu</a:t>
            </a:r>
          </a:p>
          <a:p>
            <a:pPr>
              <a:defRPr sz="1400">
                <a:solidFill>
                  <a:srgbClr val="112211"/>
                </a:solidFill>
                <a:latin typeface="Arial"/>
              </a:defRPr>
            </a:pPr>
            <a:r>
              <a:t>Wajib konsisten menjaga kebersihan dan higiene tempat penanganan pangan sesuai dengan diagram alir produksi.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828800"/>
            <a:ext cx="3383280" cy="4114800"/>
          </a:xfrm>
          <a:prstGeom prst="roundRect">
            <a:avLst/>
          </a:prstGeom>
          <a:solidFill>
            <a:srgbClr val="EEF5EC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2E6F40"/>
                </a:solidFill>
                <a:latin typeface="Arial"/>
              </a:defRPr>
            </a:pPr>
            <a:r>
              <a:t>📊 Pelaporan Berkala</a:t>
            </a:r>
          </a:p>
          <a:p>
            <a:pPr>
              <a:defRPr sz="1400">
                <a:solidFill>
                  <a:srgbClr val="112211"/>
                </a:solidFill>
                <a:latin typeface="Arial"/>
              </a:defRPr>
            </a:pPr>
            <a:r>
              <a:t>Melaporkan ketertelusuran produk (sumber bahan baku &amp; distribusi penjualan) minimal 1 kali dalam setahun ke OKKPD.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828800"/>
            <a:ext cx="3383280" cy="4114800"/>
          </a:xfrm>
          <a:prstGeom prst="roundRect">
            <a:avLst/>
          </a:prstGeom>
          <a:solidFill>
            <a:srgbClr val="EEF5EC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2E6F40"/>
                </a:solidFill>
                <a:latin typeface="Arial"/>
              </a:defRPr>
            </a:pPr>
            <a:r>
              <a:t>🏷️ Kesesuaian Label</a:t>
            </a:r>
          </a:p>
          <a:p>
            <a:pPr>
              <a:defRPr sz="1400">
                <a:solidFill>
                  <a:srgbClr val="112211"/>
                </a:solidFill>
                <a:latin typeface="Arial"/>
              </a:defRPr>
            </a:pPr>
            <a:r>
              <a:t>Mencantumkan nomor registrasi PSAT-PDUK yang diperoleh pada label kemasan eceran secara benar dan jelas.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E6F40"/>
                </a:solidFill>
                <a:latin typeface="Arial"/>
              </a:defRPr>
            </a:pPr>
            <a:r>
              <a:t>Penutup &amp; Kontak Layanan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10820095" cy="1280160"/>
          </a:xfrm>
          <a:prstGeom prst="roundRect">
            <a:avLst/>
          </a:prstGeom>
          <a:solidFill>
            <a:srgbClr val="2E6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B8860B"/>
                </a:solidFill>
                <a:latin typeface="Arial"/>
              </a:defRPr>
            </a:pPr>
            <a:r>
              <a:t>🤝 MAKLUMAT PELAYANAN</a:t>
            </a:r>
          </a:p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"Kami berkomitmen memberikan pelayanan yang transparan, cepat, akuntabel, dan bebas pungutan liar."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291840"/>
            <a:ext cx="5212080" cy="2743200"/>
          </a:xfrm>
          <a:prstGeom prst="roundRect">
            <a:avLst/>
          </a:prstGeom>
          <a:solidFill>
            <a:srgbClr val="EEF5EC"/>
          </a:solidFill>
          <a:ln>
            <a:solidFill>
              <a:srgbClr val="2E6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2E6F40"/>
                </a:solidFill>
                <a:latin typeface="Arial"/>
              </a:defRPr>
            </a:pPr>
            <a:r>
              <a:rPr dirty="0"/>
              <a:t>🏢 ALAMAT KANTOR</a:t>
            </a:r>
          </a:p>
          <a:p>
            <a:pPr>
              <a:defRPr sz="1400">
                <a:solidFill>
                  <a:srgbClr val="112211"/>
                </a:solidFill>
                <a:latin typeface="Arial"/>
              </a:defRPr>
            </a:pPr>
            <a:r>
              <a:rPr dirty="0" err="1"/>
              <a:t>Dinas</a:t>
            </a:r>
            <a:r>
              <a:rPr dirty="0"/>
              <a:t> </a:t>
            </a:r>
            <a:r>
              <a:rPr dirty="0" err="1"/>
              <a:t>Ketahanan</a:t>
            </a:r>
            <a:r>
              <a:rPr dirty="0"/>
              <a:t> </a:t>
            </a:r>
            <a:r>
              <a:rPr dirty="0" err="1"/>
              <a:t>Pangan</a:t>
            </a:r>
            <a:r>
              <a:rPr dirty="0"/>
              <a:t> </a:t>
            </a:r>
            <a:r>
              <a:rPr dirty="0" err="1"/>
              <a:t>Kabupaten</a:t>
            </a:r>
            <a:r>
              <a:rPr dirty="0"/>
              <a:t> </a:t>
            </a:r>
            <a:r>
              <a:rPr dirty="0" err="1"/>
              <a:t>Lebak</a:t>
            </a:r>
            <a:br>
              <a:rPr/>
            </a:br>
            <a:r>
              <a:t>(OKKPD </a:t>
            </a:r>
            <a:r>
              <a:rPr dirty="0" err="1"/>
              <a:t>Kabupaten</a:t>
            </a:r>
            <a:r>
              <a:rPr dirty="0"/>
              <a:t> </a:t>
            </a:r>
            <a:r>
              <a:rPr dirty="0" err="1"/>
              <a:t>Lebak</a:t>
            </a:r>
            <a:r>
              <a:rPr dirty="0"/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3815" y="3291840"/>
            <a:ext cx="5212080" cy="2743200"/>
          </a:xfrm>
          <a:prstGeom prst="roundRect">
            <a:avLst/>
          </a:prstGeom>
          <a:solidFill>
            <a:srgbClr val="EEF5EC"/>
          </a:solidFill>
          <a:ln>
            <a:solidFill>
              <a:srgbClr val="2E6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2E6F40"/>
                </a:solidFill>
                <a:latin typeface="Arial"/>
              </a:defRPr>
            </a:pPr>
            <a:r>
              <a:t>🌐 LAYANAN ONLINE</a:t>
            </a:r>
          </a:p>
          <a:p>
            <a:pPr>
              <a:defRPr sz="1400">
                <a:solidFill>
                  <a:srgbClr val="112211"/>
                </a:solidFill>
                <a:latin typeface="Arial"/>
              </a:defRPr>
            </a:pPr>
            <a:r>
              <a:t>Website Resmi: disketapang.lebakkab.go.id</a:t>
            </a:r>
            <a:br/>
            <a:r>
              <a:t>Sistem Perizinan: oss.go.id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555</Words>
  <Application>Microsoft Office PowerPoint</Application>
  <PresentationFormat>Widescreen</PresentationFormat>
  <Paragraphs>68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User</dc:creator>
  <cp:keywords/>
  <dc:description>generated using python-pptx</dc:description>
  <cp:lastModifiedBy>User</cp:lastModifiedBy>
  <cp:revision>4</cp:revision>
  <dcterms:created xsi:type="dcterms:W3CDTF">2013-01-27T09:14:16Z</dcterms:created>
  <dcterms:modified xsi:type="dcterms:W3CDTF">2026-10-26T08:13:20Z</dcterms:modified>
  <cp:category/>
</cp:coreProperties>
</file>